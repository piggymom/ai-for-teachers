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'sit up' moment. Don't explain yet — let the question land. Pause after reading the stat. Let the audience feel the tension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Establish the triple bind: teachers are anxious, PD is broken, and now there's a federal mandate. Pause on each stat. The DOL framework is new — most audiences haven't heard of it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intellectual core of the pitch. Take your time here. The Ozempic analogy: the drug works while you're on it, but when you stop, the weight comes back — because the underlying behaviors never changed. Same with AI tools that do the work for teachers.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slide fast. The 'how' comes next. Emphasize 'by building, not watching' — that's the key phrase. The four features map to the four objections districts have: too long, too much time, no evidence, tool lock-in.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Emphasize 'artifact-first' — every session produces something the teacher uses Monday morning. The portfolio of 7 artifacts is the proof of learning and the basis for PD credit documentation.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where you win technical audiences. For foundations: spend time here — the SOLO taxonomy has 40+ years of validation. For districts: go fast, emphasize 'adapts to every teacher automatically.'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proves depth. For tech audiences, this is the 'wow, they actually built something' moment. For non-technical audiences: 'Imagine a tutor who remembers everything about your teaching context and adjusts every response.'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Replace placeholder boxes with actual product screenshots. If presenting live, do a live demo here instead. Have a pre-populated account ready with Week 2 or Week 3 in progress.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honest about stage. 'We're pre-launch with a working product. TimeSaveAI validates the approach. The next step is a formal pilot.' Don't overclaim — authenticity is the brand.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on timing: 'The federal government just told every school district they need AI literacy PD. We built it before they asked.' Don't oversell TAM — the timing angle is more compelling.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Key insight: the expensive part (curriculum, classifier, architecture) is already built. Marginal cost is API calls. Every new module is content, not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credibility story: 15 years in classrooms across three countries. Built a tool with 100+ users. Delivered PD at a major NYC education org. This is teacher-first, tech-second.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Don't trash competitors. Frame it as: 'These tools serve different purposes. Khanmigo tutors students. MagicSchool generates content. We build teacher capability. They're complements, not substitutes.'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point: the hard engineering work is done. The roadmap is about refining the experience, collecting evidence, and scaling distribution.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emotional close. Slow down. Make eye contact. Let the quote land. This is from Asher's own PD presentation at New Visions.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specific about what you're asking for. End with: 'I'd love to show you the product. Can we schedule 15 minutes this week?'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 i="0">
                <a:solidFill>
                  <a:srgbClr val="FFFFFF"/>
                </a:solidFill>
                <a:latin typeface="Calibri"/>
              </a:defRPr>
            </a:pPr>
            <a:r>
              <a:t>What happens when the AI goes away?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99F6E4"/>
                </a:solidFill>
                <a:latin typeface="Calibri"/>
              </a:defRPr>
            </a:pPr>
            <a:r>
              <a:t>Students using AI tools showed a 17% performance drop</a:t>
            </a:r>
            <a:br/>
            <a:r>
              <a:t>when access was removed.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484632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64748B"/>
                </a:solidFill>
                <a:latin typeface="Calibri"/>
              </a:defRPr>
            </a:pPr>
            <a:r>
              <a:t>Most AI tools for teachers create the same dependency.</a:t>
            </a:r>
            <a:br/>
            <a:r>
              <a:t>We built something different.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293B"/>
                </a:solidFill>
                <a:latin typeface="Calibri"/>
              </a:defRPr>
            </a:pPr>
            <a:r>
              <a:t>Teachers are drowning in AI anxiety, not AI tools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320040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43F5E"/>
                </a:solidFill>
                <a:latin typeface="Calibri"/>
              </a:defRPr>
            </a:pPr>
            <a:r>
              <a:t>82%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661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4748B"/>
                </a:solidFill>
                <a:latin typeface="Calibri"/>
              </a:defRPr>
            </a:pPr>
            <a:r>
              <a:t>of K-12 teachers feel</a:t>
            </a:r>
            <a:br/>
            <a:r>
              <a:t>unprepared to use AI</a:t>
            </a:r>
          </a:p>
        </p:txBody>
      </p:sp>
      <p:sp>
        <p:nvSpPr>
          <p:cNvPr id="7" name="Rectangle 6"/>
          <p:cNvSpPr/>
          <p:nvPr/>
        </p:nvSpPr>
        <p:spPr>
          <a:xfrm>
            <a:off x="4480559" y="2011680"/>
            <a:ext cx="32004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59" y="2286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F59E0B"/>
                </a:solidFill>
                <a:latin typeface="Calibri"/>
              </a:defRPr>
            </a:pPr>
            <a:r>
              <a:t>$50-200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59" y="35661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4748B"/>
                </a:solidFill>
                <a:latin typeface="Calibri"/>
              </a:defRPr>
            </a:pPr>
            <a:r>
              <a:t>per teacher per PD session</a:t>
            </a:r>
            <a:br/>
            <a:r>
              <a:t>— and they call it 'useless'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011680"/>
            <a:ext cx="320040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2860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D9488"/>
                </a:solidFill>
                <a:latin typeface="Calibri"/>
              </a:defRPr>
            </a:pPr>
            <a:r>
              <a:t>Feb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356616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4748B"/>
                </a:solidFill>
                <a:latin typeface="Calibri"/>
              </a:defRPr>
            </a:pPr>
            <a:r>
              <a:t>DOL AI Literacy Framework</a:t>
            </a:r>
            <a:br/>
            <a:r>
              <a:t>— districts must now comply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 i="1">
                <a:solidFill>
                  <a:srgbClr val="1E293B"/>
                </a:solidFill>
                <a:latin typeface="Calibri"/>
              </a:defRPr>
            </a:pPr>
            <a:r>
              <a:t>The gap: no structured, personalized, evidence-based program exists to build</a:t>
            </a:r>
            <a:br/>
            <a:r>
              <a:t>teacher AI capacity at scale.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Capacity vs. Dependency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5029200" cy="4114800"/>
          </a:xfrm>
          <a:prstGeom prst="rect">
            <a:avLst/>
          </a:prstGeom>
          <a:solidFill>
            <a:srgbClr val="2D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F43F5E"/>
                </a:solidFill>
                <a:latin typeface="Calibri"/>
              </a:defRPr>
            </a:pPr>
            <a:r>
              <a:t>THE DEPENDENCY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4688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CCCCCC"/>
                </a:solidFill>
                <a:latin typeface="Calibri"/>
              </a:defRPr>
            </a:pPr>
            <a:r>
              <a:t>AI generates content FOR the teacher</a:t>
            </a:r>
          </a:p>
          <a:p>
            <a:pPr algn="l">
              <a:spcBef>
                <a:spcPts val="1200"/>
              </a:spcBef>
              <a:defRPr sz="1700" b="0" i="0">
                <a:solidFill>
                  <a:srgbClr val="CCCCCC"/>
                </a:solidFill>
                <a:latin typeface="Calibri"/>
              </a:defRPr>
            </a:pPr>
            <a:r>
              <a:t>Teacher reviews and delivers</a:t>
            </a:r>
          </a:p>
          <a:p>
            <a:pPr algn="l">
              <a:spcBef>
                <a:spcPts val="1200"/>
              </a:spcBef>
              <a:defRPr sz="1700" b="0" i="0">
                <a:solidFill>
                  <a:srgbClr val="CCCCCC"/>
                </a:solidFill>
                <a:latin typeface="Calibri"/>
              </a:defRPr>
            </a:pPr>
            <a:r>
              <a:t>Skill required: clicking buttons</a:t>
            </a:r>
          </a:p>
          <a:p>
            <a:pPr algn="l">
              <a:spcBef>
                <a:spcPts val="1200"/>
              </a:spcBef>
              <a:defRPr sz="1700" b="0" i="0">
                <a:solidFill>
                  <a:srgbClr val="CCCCCC"/>
                </a:solidFill>
                <a:latin typeface="Calibri"/>
              </a:defRPr>
            </a:pPr>
            <a:r>
              <a:t>When tool is removed: capability disappears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0C2E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766560" y="182880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0B981"/>
                </a:solidFill>
                <a:latin typeface="Calibri"/>
              </a:defRPr>
            </a:pPr>
            <a:r>
              <a:t>THE CAPACITY MODEL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66560" y="2468880"/>
            <a:ext cx="4389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99F6E4"/>
                </a:solidFill>
                <a:latin typeface="Calibri"/>
              </a:defRPr>
            </a:pPr>
            <a:r>
              <a:t>Teacher LEARNS the skill with AI coaching</a:t>
            </a:r>
          </a:p>
          <a:p>
            <a:pPr algn="l">
              <a:spcBef>
                <a:spcPts val="1200"/>
              </a:spcBef>
              <a:defRPr sz="1700" b="0" i="0">
                <a:solidFill>
                  <a:srgbClr val="99F6E4"/>
                </a:solidFill>
                <a:latin typeface="Calibri"/>
              </a:defRPr>
            </a:pPr>
            <a:r>
              <a:t>Teacher practices in any AI tool</a:t>
            </a:r>
          </a:p>
          <a:p>
            <a:pPr algn="l">
              <a:spcBef>
                <a:spcPts val="1200"/>
              </a:spcBef>
              <a:defRPr sz="1700" b="0" i="0">
                <a:solidFill>
                  <a:srgbClr val="99F6E4"/>
                </a:solidFill>
                <a:latin typeface="Calibri"/>
              </a:defRPr>
            </a:pPr>
            <a:r>
              <a:t>Skill required: prompting, evaluation, iteration</a:t>
            </a:r>
          </a:p>
          <a:p>
            <a:pPr algn="l">
              <a:spcBef>
                <a:spcPts val="1200"/>
              </a:spcBef>
              <a:defRPr sz="1700" b="0" i="0">
                <a:solidFill>
                  <a:srgbClr val="99F6E4"/>
                </a:solidFill>
                <a:latin typeface="Calibri"/>
              </a:defRPr>
            </a:pPr>
            <a:r>
              <a:t>When tool is removed: teacher keeps the skill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94360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99F6E4"/>
                </a:solidFill>
                <a:latin typeface="Calibri"/>
              </a:defRPr>
            </a:pPr>
            <a:r>
              <a:t>"Most AI tools suppress the struggle that creates mastery. We build capacity, not dependency."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200" b="1" i="0">
                <a:solidFill>
                  <a:srgbClr val="0F766E"/>
                </a:solidFill>
                <a:latin typeface="Calibri"/>
              </a:defRPr>
            </a:pPr>
            <a:r>
              <a:t>Meet Skippy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 i="0">
                <a:solidFill>
                  <a:srgbClr val="1E293B"/>
                </a:solidFill>
                <a:latin typeface="Calibri"/>
              </a:defRPr>
            </a:pPr>
            <a:r>
              <a:t>An AI tutor that teaches teachers to use AI — by building, not watching.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237744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7-week personalized course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Structured progression from "What is AI?" to personal AI policy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8328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383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20 minutes per week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7490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Self-paced, asynchronous — no coverage needed, no scheduling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438912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3891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One artifact every session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7548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Prompt templates, lesson workflows, feedback rubrics, differentiation strategies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5394960"/>
            <a:ext cx="73152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Skills transfer to any AI tool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57607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Teachers practice in ChatGPT and Gemini — not locked into Skippy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293B"/>
                </a:solidFill>
                <a:latin typeface="Calibri"/>
              </a:defRPr>
            </a:pPr>
            <a:r>
              <a:t>One Win Per Week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051560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FOCUS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TEACHER BUILDS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371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FFFFFF"/>
                </a:solidFill>
                <a:latin typeface="Calibri"/>
              </a:defRPr>
            </a:pPr>
            <a:r>
              <a:t>TIME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1874519"/>
            <a:ext cx="10515600" cy="54864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766E"/>
                </a:solidFill>
                <a:latin typeface="Calibri"/>
              </a:defRPr>
            </a:pPr>
            <a:r>
              <a:t>Week 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18745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Onboarding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187451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Teaching Profile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87451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5 min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2468879"/>
            <a:ext cx="10515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46887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766E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24688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Understanding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46887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AI Mental Model Card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0" y="246887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~20 min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31520" y="3063239"/>
            <a:ext cx="10515600" cy="54864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306323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766E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306323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Prompting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306323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4C Prompt Template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306323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~20 min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3657599"/>
            <a:ext cx="10515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65759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766E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28800" y="365759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Lesson Planning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0" y="365759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Planning Workflow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0" y="365759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~20 min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31520" y="4251959"/>
            <a:ext cx="10515600" cy="54864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425195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766E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828800" y="425195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Feedback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425195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Feedback Template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425195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~20 min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" y="4846319"/>
            <a:ext cx="10515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484631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766E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28800" y="484631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Differentiation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84631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Differentiation Template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0" y="484631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~20 min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" y="5440679"/>
            <a:ext cx="10515600" cy="54864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440679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 i="0">
                <a:solidFill>
                  <a:srgbClr val="0F766E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828800" y="5440679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Ethics &amp; Policy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0" y="5440679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Personal AI Policy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6800" y="5440679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~20 min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9436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1">
                <a:solidFill>
                  <a:srgbClr val="64748B"/>
                </a:solidFill>
                <a:latin typeface="Calibri"/>
              </a:defRPr>
            </a:pPr>
            <a:r>
              <a:t>Every session produces something the teacher uses Monday morning. Not theory. Not slides. A tool they built.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293B"/>
                </a:solidFill>
                <a:latin typeface="Calibri"/>
              </a:defRPr>
            </a:pPr>
            <a:r>
              <a:t>This Isn't Prompt Tips. It's Pedagogy.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65760" cy="3657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1E293B"/>
                </a:solidFill>
                <a:latin typeface="Calibri"/>
              </a:defRPr>
            </a:pPr>
            <a:r>
              <a:t>SOLO Taxonomy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4630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Real-time diagnostic classifier assesses teacher understanding across 5 validated levels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23160"/>
            <a:ext cx="365760" cy="36576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423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1E293B"/>
                </a:solidFill>
                <a:latin typeface="Calibri"/>
              </a:defRPr>
            </a:pPr>
            <a:r>
              <a:t>4C Framework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242316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Context, Constraints, Command, Criteria — the transferable prompting structure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383280"/>
            <a:ext cx="365760" cy="36576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383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1E293B"/>
                </a:solidFill>
                <a:latin typeface="Calibri"/>
              </a:defRPr>
            </a:pPr>
            <a:r>
              <a:t>External Testing Loop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338328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"Try it in ChatGPT. Come back and tell me what happened."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343400"/>
            <a:ext cx="365760" cy="36576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3434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1E293B"/>
                </a:solidFill>
                <a:latin typeface="Calibri"/>
              </a:defRPr>
            </a:pPr>
            <a:r>
              <a:t>One Win Then Wrap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434340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Every conversation follows a 6-phase arc toward one concrete output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303520"/>
            <a:ext cx="365760" cy="365760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53035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 i="0">
                <a:solidFill>
                  <a:srgbClr val="1E293B"/>
                </a:solidFill>
                <a:latin typeface="Calibri"/>
              </a:defRPr>
            </a:pPr>
            <a:r>
              <a:t>Adaptive Scaffolding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530352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 i="0">
                <a:solidFill>
                  <a:srgbClr val="64748B"/>
                </a:solidFill>
                <a:latin typeface="Calibri"/>
              </a:defRPr>
            </a:pPr>
            <a:r>
              <a:t>Skippy's behavior visibly changes based on diagnosed level — from analogies to peer-mode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6 Layers of Personalization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37160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92024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Global Personality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13716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F6E4"/>
                </a:solidFill>
                <a:latin typeface="Calibri"/>
              </a:defRPr>
            </a:pPr>
            <a:r>
              <a:t>Warm British sensibility, expert tutor, artifact-first design</a:t>
            </a:r>
          </a:p>
        </p:txBody>
      </p:sp>
      <p:sp>
        <p:nvSpPr>
          <p:cNvPr id="7" name="Oval 6"/>
          <p:cNvSpPr/>
          <p:nvPr/>
        </p:nvSpPr>
        <p:spPr>
          <a:xfrm>
            <a:off x="1097280" y="219456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Week-Specific Pedagogy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219456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F6E4"/>
                </a:solidFill>
                <a:latin typeface="Calibri"/>
              </a:defRPr>
            </a:pPr>
            <a:r>
              <a:t>Learning goals, phase management, skill targets</a:t>
            </a:r>
          </a:p>
        </p:txBody>
      </p:sp>
      <p:sp>
        <p:nvSpPr>
          <p:cNvPr id="10" name="Oval 9"/>
          <p:cNvSpPr/>
          <p:nvPr/>
        </p:nvSpPr>
        <p:spPr>
          <a:xfrm>
            <a:off x="1097280" y="301752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Personalized Opening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01752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F6E4"/>
                </a:solidFill>
                <a:latin typeface="Calibri"/>
              </a:defRPr>
            </a:pPr>
            <a:r>
              <a:t>Name, subject, grade level woven into first message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384048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Teacher Profile 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384048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F6E4"/>
                </a:solidFill>
                <a:latin typeface="Calibri"/>
              </a:defRPr>
            </a:pPr>
            <a:r>
              <a:t>Goals, constraints, time drains, AI experience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466344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46634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Conversation Ledger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466344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F6E4"/>
                </a:solidFill>
                <a:latin typeface="Calibri"/>
              </a:defRPr>
            </a:pPr>
            <a:r>
              <a:t>Phase, SOLO level, 4C progress, artifact state</a:t>
            </a:r>
          </a:p>
        </p:txBody>
      </p:sp>
      <p:sp>
        <p:nvSpPr>
          <p:cNvPr id="19" name="Oval 18"/>
          <p:cNvSpPr/>
          <p:nvPr/>
        </p:nvSpPr>
        <p:spPr>
          <a:xfrm>
            <a:off x="1097280" y="5486400"/>
            <a:ext cx="502920" cy="5029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 i="0">
                <a:solidFill>
                  <a:srgbClr val="FFFFFF"/>
                </a:solidFill>
                <a:latin typeface="Calibri"/>
              </a:defRPr>
            </a:pPr>
            <a:r>
              <a:t>Diagnostic Probe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0" y="5486400"/>
            <a:ext cx="5943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99F6E4"/>
                </a:solidFill>
                <a:latin typeface="Calibri"/>
              </a:defRPr>
            </a:pPr>
            <a:r>
              <a:t>Opening assessment calibrates every session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62179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1">
                <a:solidFill>
                  <a:srgbClr val="99F6E4"/>
                </a:solidFill>
                <a:latin typeface="Calibri"/>
              </a:defRPr>
            </a:pPr>
            <a:r>
              <a:t>"Every response is shaped by who you are, what you know, and where you are in the conversation."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293B"/>
                </a:solidFill>
                <a:latin typeface="Calibri"/>
              </a:defRPr>
            </a:pPr>
            <a:r>
              <a:t>Show, Don't Tell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459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5603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CBD5E1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029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F766E"/>
                </a:solidFill>
                <a:latin typeface="Calibri"/>
              </a:defRPr>
            </a:pPr>
            <a:r>
              <a:t>Personalized Onboarding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486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5-min profile captures subject,</a:t>
            </a:r>
            <a:br/>
            <a:r>
              <a:t>grade, goals, and constraints</a:t>
            </a:r>
          </a:p>
        </p:txBody>
      </p:sp>
      <p:sp>
        <p:nvSpPr>
          <p:cNvPr id="8" name="Rectangle 7"/>
          <p:cNvSpPr/>
          <p:nvPr/>
        </p:nvSpPr>
        <p:spPr>
          <a:xfrm>
            <a:off x="3429000" y="16459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25603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CBD5E1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5029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F766E"/>
                </a:solidFill>
                <a:latin typeface="Calibri"/>
              </a:defRPr>
            </a:pPr>
            <a:r>
              <a:t>Adaptive Conversation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5486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Skippy responds differently</a:t>
            </a:r>
            <a:br/>
            <a:r>
              <a:t>based on SOLO level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09359" y="16459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59" y="25603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CBD5E1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5029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F766E"/>
                </a:solidFill>
                <a:latin typeface="Calibri"/>
              </a:defRPr>
            </a:pPr>
            <a:r>
              <a:t>Artifact Extraction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5486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Teacher's work saved</a:t>
            </a:r>
            <a:br/>
            <a:r>
              <a:t>automatically to gallery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89719" y="164592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9719" y="2560320"/>
            <a:ext cx="26517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0">
                <a:solidFill>
                  <a:srgbClr val="CBD5E1"/>
                </a:solidFill>
                <a:latin typeface="Calibri"/>
              </a:defRPr>
            </a:pPr>
            <a:r>
              <a:t>[Screenshot]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19" y="5029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 i="0">
                <a:solidFill>
                  <a:srgbClr val="0F766E"/>
                </a:solidFill>
                <a:latin typeface="Calibri"/>
              </a:defRPr>
            </a:pPr>
            <a:r>
              <a:t>Dashboard &amp; Progress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548640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64748B"/>
                </a:solidFill>
                <a:latin typeface="Calibri"/>
              </a:defRPr>
            </a:pPr>
            <a:r>
              <a:t>Portfolio of artifacts +</a:t>
            </a:r>
            <a:br/>
            <a:r>
              <a:t>week-by-week completion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293B"/>
                </a:solidFill>
                <a:latin typeface="Calibri"/>
              </a:defRPr>
            </a:pPr>
            <a:r>
              <a:t>What's Already Working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D9488"/>
                </a:solidFill>
                <a:latin typeface="Calibri"/>
              </a:defRPr>
            </a:pPr>
            <a:r>
              <a:t>100+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weekly active users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965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TimeSaveAI observation feedback tool —</a:t>
            </a:r>
            <a:br/>
            <a:r>
              <a:t>same design philosophy, proven approach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46304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D9488"/>
                </a:solidFill>
                <a:latin typeface="Calibri"/>
              </a:defRPr>
            </a:pPr>
            <a:r>
              <a:t>$5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0" y="14630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per teacher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0" y="19659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Full 7-week course cost vs.</a:t>
            </a:r>
            <a:br/>
            <a:r>
              <a:t>$50-200 for traditional PD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840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D9488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week course — live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343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Not a prototype. Auth, onboarding, adaptive</a:t>
            </a:r>
            <a:br/>
            <a:r>
              <a:t>tutoring, artifacts, podcasts, progress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38404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 i="0">
                <a:solidFill>
                  <a:srgbClr val="0D9488"/>
                </a:solidFill>
                <a:latin typeface="Calibri"/>
              </a:defRPr>
            </a:pPr>
            <a:r>
              <a:t>15+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3840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 i="0">
                <a:solidFill>
                  <a:srgbClr val="1E293B"/>
                </a:solidFill>
                <a:latin typeface="Calibri"/>
              </a:defRPr>
            </a:pPr>
            <a:r>
              <a:t>years teaching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43434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U.S., Australia, Finland.</a:t>
            </a:r>
            <a:br/>
            <a:r>
              <a:t>Built by a teacher, for teachers.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64748B"/>
                </a:solidFill>
                <a:latin typeface="Calibri"/>
              </a:defRPr>
            </a:pPr>
            <a:r>
              <a:t>New Visions for Public Schools — AI literacy PD delivered to all staff, February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293B"/>
                </a:solidFill>
                <a:latin typeface="Calibri"/>
              </a:defRPr>
            </a:pPr>
            <a:r>
              <a:t>Timing + Scale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D9488"/>
                </a:solidFill>
                <a:latin typeface="Calibri"/>
              </a:defRPr>
            </a:pPr>
            <a:r>
              <a:t>3.7M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4748B"/>
                </a:solidFill>
                <a:latin typeface="Calibri"/>
              </a:defRPr>
            </a:pPr>
            <a:r>
              <a:t>K-12 teachers in the U.S.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175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D9488"/>
                </a:solidFill>
                <a:latin typeface="Calibri"/>
              </a:defRPr>
            </a:pPr>
            <a:r>
              <a:t>$18B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749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4748B"/>
                </a:solidFill>
                <a:latin typeface="Calibri"/>
              </a:defRPr>
            </a:pPr>
            <a:r>
              <a:t>annual PD spend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38912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 i="0">
                <a:solidFill>
                  <a:srgbClr val="0D9488"/>
                </a:solidFill>
                <a:latin typeface="Calibri"/>
              </a:defRPr>
            </a:pPr>
            <a:r>
              <a:t>&lt;1%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64748B"/>
                </a:solidFill>
                <a:latin typeface="Calibri"/>
              </a:defRPr>
            </a:pPr>
            <a:r>
              <a:t>is AI-specific PD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645920"/>
            <a:ext cx="5486400" cy="411480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0F766E"/>
                </a:solidFill>
                <a:latin typeface="Calibri"/>
              </a:defRPr>
            </a:pPr>
            <a:r>
              <a:t>WHY NOW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47548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DOL AI Literacy Framework (Feb 2026) creates federal compliance urgency</a:t>
            </a:r>
          </a:p>
          <a:p>
            <a:pPr algn="l">
              <a:spcBef>
                <a:spcPts val="1200"/>
              </a:spcBef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Districts have budget for PD but no AI-specific programs to buy</a:t>
            </a:r>
          </a:p>
          <a:p>
            <a:pPr algn="l">
              <a:spcBef>
                <a:spcPts val="1200"/>
              </a:spcBef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First-wave AI tools (MagicSchool, Khanmigo) revealed the dependency problem</a:t>
            </a:r>
          </a:p>
          <a:p>
            <a:pPr algn="l">
              <a:spcBef>
                <a:spcPts val="1200"/>
              </a:spcBef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Category is being created — first mover with learning science wins</a:t>
            </a:r>
          </a:p>
          <a:p>
            <a:pPr algn="l">
              <a:spcBef>
                <a:spcPts val="1200"/>
              </a:spcBef>
              <a:defRPr sz="1500" b="0" i="0">
                <a:solidFill>
                  <a:srgbClr val="1E293B"/>
                </a:solidFill>
                <a:latin typeface="Calibri"/>
              </a:defRPr>
            </a:pPr>
            <a:r>
              <a:t>International expansion: 70M+ teachers globally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293B"/>
                </a:solidFill>
                <a:latin typeface="Calibri"/>
              </a:defRPr>
            </a:pPr>
            <a:r>
              <a:t>How It Sustains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29184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0D9488"/>
                </a:solidFill>
                <a:latin typeface="Calibri"/>
              </a:defRPr>
            </a:pPr>
            <a:r>
              <a:t>PHASE 1 —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293B"/>
                </a:solidFill>
                <a:latin typeface="Calibri"/>
              </a:defRPr>
            </a:pPr>
            <a:r>
              <a:t>B2C 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Individual teachers sign up free.</a:t>
            </a:r>
            <a:br/>
            <a:r>
              <a:t>Build user base. Collect data. Generate testimonials.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46304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59E0B"/>
                </a:solidFill>
                <a:latin typeface="Calibri"/>
              </a:defRPr>
            </a:pPr>
            <a:r>
              <a:t>PHASE 2 — POST-PILOT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59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293B"/>
                </a:solidFill>
                <a:latin typeface="Calibri"/>
              </a:defRPr>
            </a:pPr>
            <a:r>
              <a:t>B2B Licensing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59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District license: $25-50/teacher/year.</a:t>
            </a:r>
            <a:br/>
            <a:r>
              <a:t>Admin dashboard, cohorts, PD credits, reporting.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46304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73736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10B981"/>
                </a:solidFill>
                <a:latin typeface="Calibri"/>
              </a:defRPr>
            </a:pPr>
            <a:r>
              <a:t>PHASE 3 —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293B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743200"/>
            <a:ext cx="3291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 i="0">
                <a:solidFill>
                  <a:srgbClr val="64748B"/>
                </a:solidFill>
                <a:latin typeface="Calibri"/>
              </a:defRPr>
            </a:pPr>
            <a:r>
              <a:t>Advanced modules ($10-15 each). Certification.</a:t>
            </a:r>
            <a:br/>
            <a:r>
              <a:t>Curriculum licensing. Multilingual expansion.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86000" y="4572000"/>
            <a:ext cx="7315200" cy="118872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0" y="4709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0F766E"/>
                </a:solidFill>
                <a:latin typeface="Calibri"/>
              </a:defRPr>
            </a:pPr>
            <a:r>
              <a:t>UNIT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512064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 i="0">
                <a:solidFill>
                  <a:srgbClr val="0F766E"/>
                </a:solidFill>
                <a:latin typeface="Calibri"/>
              </a:defRPr>
            </a:pPr>
            <a:r>
              <a:t>$5 cost  /  $50 revenue  =  90% gross margin at scale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293B"/>
                </a:solidFill>
                <a:latin typeface="Calibri"/>
              </a:defRPr>
            </a:pPr>
            <a:r>
              <a:t>Built by a Teacher, for Teachers</a:t>
            </a:r>
          </a:p>
        </p:txBody>
      </p:sp>
      <p:sp>
        <p:nvSpPr>
          <p:cNvPr id="4" name="Oval 3"/>
          <p:cNvSpPr/>
          <p:nvPr/>
        </p:nvSpPr>
        <p:spPr>
          <a:xfrm>
            <a:off x="1097280" y="1828800"/>
            <a:ext cx="2286000" cy="228600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0" i="0">
                <a:solidFill>
                  <a:srgbClr val="64748B"/>
                </a:solidFill>
                <a:latin typeface="Calibri"/>
              </a:defRPr>
            </a:pPr>
            <a:r>
              <a:t>[Photo]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0" y="164592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 i="0">
                <a:solidFill>
                  <a:srgbClr val="1E293B"/>
                </a:solidFill>
                <a:latin typeface="Calibri"/>
              </a:defRPr>
            </a:pPr>
            <a:r>
              <a:t>Asher Scott, Founder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2377440"/>
            <a:ext cx="6858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 i="0">
                <a:solidFill>
                  <a:srgbClr val="1E293B"/>
                </a:solidFill>
                <a:latin typeface="Calibri"/>
              </a:defRPr>
            </a:pPr>
            <a:r>
              <a:t>15+ years classroom teaching — U.S., Australia, Finland</a:t>
            </a:r>
          </a:p>
          <a:p>
            <a:pPr algn="l">
              <a:spcBef>
                <a:spcPts val="1400"/>
              </a:spcBef>
              <a:defRPr sz="1800" b="0" i="0">
                <a:solidFill>
                  <a:srgbClr val="1E293B"/>
                </a:solidFill>
                <a:latin typeface="Calibri"/>
              </a:defRPr>
            </a:pPr>
            <a:r>
              <a:t>Built TimeSaveAI — 100+ weekly users on observation feedback tool</a:t>
            </a:r>
          </a:p>
          <a:p>
            <a:pPr algn="l">
              <a:spcBef>
                <a:spcPts val="1400"/>
              </a:spcBef>
              <a:defRPr sz="1800" b="0" i="0">
                <a:solidFill>
                  <a:srgbClr val="1E293B"/>
                </a:solidFill>
                <a:latin typeface="Calibri"/>
              </a:defRPr>
            </a:pPr>
            <a:r>
              <a:t>Delivered AI literacy PD at New Visions for Public Schools</a:t>
            </a:r>
          </a:p>
          <a:p>
            <a:pPr algn="l">
              <a:spcBef>
                <a:spcPts val="1400"/>
              </a:spcBef>
              <a:defRPr sz="1800" b="0" i="0">
                <a:solidFill>
                  <a:srgbClr val="1E293B"/>
                </a:solidFill>
                <a:latin typeface="Calibri"/>
              </a:defRPr>
            </a:pPr>
            <a:r>
              <a:t>Education technologist at the intersection of pedagogy and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4572000"/>
            <a:ext cx="6858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 i="1">
                <a:solidFill>
                  <a:srgbClr val="0F766E"/>
                </a:solidFill>
                <a:latin typeface="Calibri"/>
              </a:defRPr>
            </a:pPr>
            <a:r>
              <a:t>"I'm not a tech founder who discovered education.</a:t>
            </a:r>
            <a:br/>
            <a:r>
              <a:t>I'm a teacher who learned to build."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 i="0">
                <a:solidFill>
                  <a:srgbClr val="1E293B"/>
                </a:solidFill>
                <a:latin typeface="Calibri"/>
              </a:defRPr>
            </a:pPr>
            <a:r>
              <a:t>We're Not Replacing AI Tools. We're the Coach.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371600"/>
            <a:ext cx="10789920" cy="45720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 i="0">
                <a:solidFill>
                  <a:srgbClr val="FFFFFF"/>
                </a:solidFill>
                <a:latin typeface="Calibri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310896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Skippy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Khanmigo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MagicSchool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ChatGPT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13716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FFFFFF"/>
                </a:solidFill>
                <a:latin typeface="Calibri"/>
              </a:defRPr>
            </a:pPr>
            <a:r>
              <a:t>Traditional PD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1874519"/>
            <a:ext cx="10789920" cy="54864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8745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Teaches capability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187451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F766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187451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87451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187451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92640" y="187451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Sometimes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468879"/>
            <a:ext cx="10789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108960" y="2468879"/>
            <a:ext cx="1645920" cy="54864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46887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Personalized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46887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F766E"/>
                </a:solidFill>
                <a:latin typeface="Calibri"/>
              </a:defRPr>
            </a:pPr>
            <a:r>
              <a:t>6 layers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246887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46887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Partial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0" y="246887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92640" y="246887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3063239"/>
            <a:ext cx="10789920" cy="54864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306323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Structured progression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30632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F766E"/>
                </a:solidFill>
                <a:latin typeface="Calibri"/>
              </a:defRPr>
            </a:pPr>
            <a:r>
              <a:t>7 weeks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30632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0632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0632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92640" y="306323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1 session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3657599"/>
            <a:ext cx="10789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108960" y="3657599"/>
            <a:ext cx="1645920" cy="54864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365759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Reusable artifacts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108960" y="365759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F766E"/>
                </a:solidFill>
                <a:latin typeface="Calibri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54880" y="365759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65759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Yes*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365759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Ad hoc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92640" y="365759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Sometimes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251959"/>
            <a:ext cx="10789920" cy="54864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48640" y="425195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Builds independence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425195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F766E"/>
                </a:solidFill>
                <a:latin typeface="Calibri"/>
              </a:defRPr>
            </a:pPr>
            <a:r>
              <a:t>Yes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754880" y="425195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00800" y="425195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No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46720" y="425195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N/A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692640" y="425195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Varies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4846319"/>
            <a:ext cx="1078992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108960" y="4846319"/>
            <a:ext cx="1645920" cy="54864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48640" y="4846319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Cost/teacher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108960" y="484631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0F766E"/>
                </a:solidFill>
                <a:latin typeface="Calibri"/>
              </a:defRPr>
            </a:pPr>
            <a:r>
              <a:t>~$5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754880" y="484631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$44/yr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0" y="484631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$99/yr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046720" y="484631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Free-$20/mo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692640" y="4846319"/>
            <a:ext cx="1645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 i="0">
                <a:solidFill>
                  <a:srgbClr val="1E293B"/>
                </a:solidFill>
                <a:latin typeface="Calibri"/>
              </a:defRPr>
            </a:pPr>
            <a:r>
              <a:t>$50-200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3152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 i="1">
                <a:solidFill>
                  <a:srgbClr val="64748B"/>
                </a:solidFill>
                <a:latin typeface="Calibri"/>
              </a:defRPr>
            </a:pPr>
            <a:r>
              <a:t>* MagicSchool artifacts are tool-generated, not teacher-created. No skill transfer.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293B"/>
                </a:solidFill>
                <a:latin typeface="Calibri"/>
              </a:defRPr>
            </a:pPr>
            <a:r>
              <a:t>Where We're Going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2560320"/>
            <a:ext cx="9601200" cy="36576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103120" y="2423160"/>
            <a:ext cx="274320" cy="27432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0D9488"/>
                </a:solidFill>
                <a:latin typeface="Calibri"/>
              </a:defRPr>
            </a:pPr>
            <a: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Launch &amp; Polish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0175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Streaming responses</a:t>
            </a:r>
            <a:br/>
            <a:r>
              <a:t>Artifact export</a:t>
            </a:r>
            <a:br/>
            <a:r>
              <a:t>Error resilience</a:t>
            </a:r>
            <a:br/>
            <a:r>
              <a:t>10-school pilot</a:t>
            </a:r>
          </a:p>
        </p:txBody>
      </p:sp>
      <p:sp>
        <p:nvSpPr>
          <p:cNvPr id="9" name="Oval 8"/>
          <p:cNvSpPr/>
          <p:nvPr/>
        </p:nvSpPr>
        <p:spPr>
          <a:xfrm>
            <a:off x="4754879" y="2423160"/>
            <a:ext cx="274320" cy="27432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F59E0B"/>
                </a:solidFill>
                <a:latin typeface="Calibri"/>
              </a:defRPr>
            </a:pPr>
            <a:r>
              <a:t>3 MONTHS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Admin &amp; 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30175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Admin dashboard</a:t>
            </a:r>
            <a:br/>
            <a:r>
              <a:t>PD credit certification</a:t>
            </a:r>
            <a:br/>
            <a:r>
              <a:t>Cohort management</a:t>
            </a:r>
            <a:br/>
            <a:r>
              <a:t>District outreach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2423160"/>
            <a:ext cx="274320" cy="27432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0B981"/>
                </a:solidFill>
                <a:latin typeface="Calibri"/>
              </a:defRPr>
            </a:pPr>
            <a:r>
              <a:t>6 MONTHS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Expand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Advanced modules</a:t>
            </a:r>
            <a:br/>
            <a:r>
              <a:t>Voice mode</a:t>
            </a:r>
            <a:br/>
            <a:r>
              <a:t>Multilingual (Spanish)</a:t>
            </a:r>
            <a:br/>
            <a:r>
              <a:t>Research publication</a:t>
            </a:r>
          </a:p>
        </p:txBody>
      </p:sp>
      <p:sp>
        <p:nvSpPr>
          <p:cNvPr id="17" name="Oval 16"/>
          <p:cNvSpPr/>
          <p:nvPr/>
        </p:nvSpPr>
        <p:spPr>
          <a:xfrm>
            <a:off x="10058399" y="2423160"/>
            <a:ext cx="274320" cy="27432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52559" y="16459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6366F1"/>
                </a:solidFill>
                <a:latin typeface="Calibri"/>
              </a:defRPr>
            </a:pPr>
            <a:r>
              <a:t>12 MONTHS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59" y="1965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 i="0">
                <a:solidFill>
                  <a:srgbClr val="1E293B"/>
                </a:solidFill>
                <a:latin typeface="Calibri"/>
              </a:defRPr>
            </a:pPr>
            <a:r>
              <a:t>Platform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59" y="3017520"/>
            <a:ext cx="23774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 i="0">
                <a:solidFill>
                  <a:srgbClr val="64748B"/>
                </a:solidFill>
                <a:latin typeface="Calibri"/>
              </a:defRPr>
            </a:pPr>
            <a:r>
              <a:t>Curriculum licensing</a:t>
            </a:r>
            <a:br/>
            <a:r>
              <a:t>District API integrations</a:t>
            </a:r>
            <a:br/>
            <a:r>
              <a:t>National expansion</a:t>
            </a:r>
            <a:br/>
            <a:r>
              <a:t>Efficacy 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6692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 i="1">
                <a:solidFill>
                  <a:srgbClr val="1E293B"/>
                </a:solidFill>
                <a:latin typeface="Calibri"/>
              </a:defRPr>
            </a:pPr>
            <a:r>
              <a:t>The architecture is built. What's left is polish, scale, and data.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0972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 i="0">
                <a:solidFill>
                  <a:srgbClr val="FFFFFF"/>
                </a:solidFill>
                <a:latin typeface="Calibri"/>
              </a:defRPr>
            </a:pPr>
            <a:r>
              <a:t>The World We're Building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28600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 i="0">
                <a:solidFill>
                  <a:srgbClr val="99F6E4"/>
                </a:solidFill>
                <a:latin typeface="Calibri"/>
              </a:defRPr>
            </a:pPr>
            <a:r>
              <a:t>Every teacher in America has access to personalized AI coaching — for $5</a:t>
            </a:r>
          </a:p>
          <a:p>
            <a:pPr algn="l">
              <a:spcBef>
                <a:spcPts val="1800"/>
              </a:spcBef>
              <a:defRPr sz="2200" b="0" i="0">
                <a:solidFill>
                  <a:srgbClr val="99F6E4"/>
                </a:solidFill>
                <a:latin typeface="Calibri"/>
              </a:defRPr>
            </a:pPr>
            <a:r>
              <a:t>Teacher AI literacy becomes measurable, not anecdotal</a:t>
            </a:r>
          </a:p>
          <a:p>
            <a:pPr algn="l">
              <a:spcBef>
                <a:spcPts val="1800"/>
              </a:spcBef>
              <a:defRPr sz="2200" b="0" i="0">
                <a:solidFill>
                  <a:srgbClr val="99F6E4"/>
                </a:solidFill>
                <a:latin typeface="Calibri"/>
              </a:defRPr>
            </a:pPr>
            <a:r>
              <a:t>The profession develops its relationship with AI on its own terms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38912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 i="1">
                <a:solidFill>
                  <a:srgbClr val="FFFFFF"/>
                </a:solidFill>
                <a:latin typeface="Calibri"/>
              </a:defRPr>
            </a:pPr>
            <a:r>
              <a:t>"I think the question isn't whether you can use AI.</a:t>
            </a:r>
            <a:br/>
            <a:r>
              <a:t>It's whether you can use AI and still be</a:t>
            </a:r>
            <a:br/>
            <a:r>
              <a:t>recognizably yourself at the end of it."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760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0">
                <a:solidFill>
                  <a:srgbClr val="0D9488"/>
                </a:solidFill>
                <a:latin typeface="Calibri"/>
              </a:defRPr>
            </a:pPr>
            <a:r>
              <a:t>— Asher Scott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 i="0">
                <a:solidFill>
                  <a:srgbClr val="1E293B"/>
                </a:solidFill>
                <a:latin typeface="Calibri"/>
              </a:defRPr>
            </a:pPr>
            <a:r>
              <a:t>What We Need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463040"/>
            <a:ext cx="365760" cy="6400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293B"/>
                </a:solidFill>
                <a:latin typeface="Calibri"/>
              </a:defRPr>
            </a:pPr>
            <a:r>
              <a:t>Funding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64748B"/>
                </a:solidFill>
                <a:latin typeface="Calibri"/>
              </a:defRPr>
            </a:pPr>
            <a:r>
              <a:t>$500K seed (or $150-250K grant)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514600"/>
            <a:ext cx="365760" cy="6400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514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293B"/>
                </a:solidFill>
                <a:latin typeface="Calibri"/>
              </a:defRPr>
            </a:pPr>
            <a:r>
              <a:t>Pilots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8803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64748B"/>
                </a:solidFill>
                <a:latin typeface="Calibri"/>
              </a:defRPr>
            </a:pPr>
            <a:r>
              <a:t>10 schools, 200 teachers, full data collection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365760" cy="6400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5661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293B"/>
                </a:solidFill>
                <a:latin typeface="Calibri"/>
              </a:defRPr>
            </a:pPr>
            <a:r>
              <a:t>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39319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64748B"/>
                </a:solidFill>
                <a:latin typeface="Calibri"/>
              </a:defRPr>
            </a:pPr>
            <a:r>
              <a:t>Districts ready to lead on AI literacy PD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4617720"/>
            <a:ext cx="365760" cy="64008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6177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 i="0">
                <a:solidFill>
                  <a:srgbClr val="1E293B"/>
                </a:solidFill>
                <a:latin typeface="Calibri"/>
              </a:defRPr>
            </a:pPr>
            <a:r>
              <a:t>Introductions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983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0" i="0">
                <a:solidFill>
                  <a:srgbClr val="64748B"/>
                </a:solidFill>
                <a:latin typeface="Calibri"/>
              </a:defRPr>
            </a:pPr>
            <a:r>
              <a:t>Education foundations, accelerators, district CTOs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5303520"/>
            <a:ext cx="6400800" cy="1097280"/>
          </a:xfrm>
          <a:prstGeom prst="rect">
            <a:avLst/>
          </a:prstGeom>
          <a:solidFill>
            <a:srgbClr val="F0FD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0" y="53949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1E293B"/>
                </a:solidFill>
                <a:latin typeface="Calibri"/>
              </a:defRPr>
            </a:pPr>
            <a:r>
              <a:t>Asher Scott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585216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 i="0">
                <a:solidFill>
                  <a:srgbClr val="0F766E"/>
                </a:solidFill>
                <a:latin typeface="Calibri"/>
              </a:defRPr>
            </a:pPr>
            <a:r>
              <a:t>asher.rhys.scott@gmail.com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6309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 i="1">
                <a:solidFill>
                  <a:srgbClr val="64748B"/>
                </a:solidFill>
                <a:latin typeface="Calibri"/>
              </a:defRPr>
            </a:pPr>
            <a:r>
              <a:t>AI for Teachers: Capacity, not dependency.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